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Kosten</c:v>
                </c:pt>
              </c:strCache>
            </c:strRef>
          </c:tx>
          <c:spPr>
            <a:solidFill>
              <a:srgbClr val="818CF8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7EA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18C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Eintritt</c:v>
                  </c:pt>
                  <c:pt idx="1">
                    <c:v>Fahrt</c:v>
                  </c:pt>
                  <c:pt idx="2">
                    <c:v>Hotel</c:v>
                  </c:pt>
                  <c:pt idx="3">
                    <c:v>Verpflegung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699</c:v>
                </c:pt>
                <c:pt idx="1">
                  <c:v>90</c:v>
                </c:pt>
                <c:pt idx="2">
                  <c:v>238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7EA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7EAF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1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30"/>
        </a:solidFill>
        <a:ln>
          <a:noFill/>
        </a:ln>
        <a:effectLst/>
      </c:spPr>
    </c:plotArea>
    <c:plotVisOnly val="1"/>
    <c:dispBlanksAs val="span"/>
  </c:chart>
  <c:spPr>
    <a:solidFill>
      <a:srgbClr val="161B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Ein Satz zur Idee: Aus 20 Messebesuchen pro Jahr wurde eine App, die Planung, Kosten und Team-Koordination bündelt. Local-first betonen: läuft ohne Server im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Problem aus eigener Erfahrung schildern: viele Events, verstreute Informationen, keine Kostentransparenz, mühsame Absprachen. Überleitung: alles in einer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Kurzer Rundflug über die sechs Bereiche – Details folgen auf den nächsten Folien. Alles ist in einer Oberfläche integriert, kein Tool-Wechsel.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Highlight: Der Kreis schließt sich – Kandidaten kommen aus dem Google-Kalender und der Recherche, Zusagen wandern als Termine wieder zurück in den Kalender.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Status-Workflow strukturiert das Jahr: vom Vormerken bis zur Nachbetrachtung. Wichtig zu sagen: Die App verwaltet Zahlungen, wickelt sie aber nicht 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Beispiel stammt aus einem echten Testdurchlauf. Kernbotschaft: keine doppelte Erfassung – wer Reise und Anmeldung pflegt, bekommt die Kostenrechnung geschenkt.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Community-Funktionen sind an ein Konto gebunden – dadurch sind Autorschaft und Teilnahmen eindeutig. Beispiel erzählen: Mitfahrt Stuttgart–Berlin mit Platzverwaltung.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Design-Umschalter live zeigen, falls Demo möglich. Technik: bewusst ohne Build-Prozess – auditierbar, in Minuten deploybar, Cloud nur wenn gewünscht.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Rechtliches ist eingebaut, nicht angeflanscht: Betroffenenrechte als Funktionen. Ehrlich sagen: Impressum/Verantwortlicher müssen vor dem öffentlichen Betrieb eingetragen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Abschluss: Repo ist committet, Anleitung liegt im README. Aufruf: Impressum eintragen, deployen, erste Messe planen. Fragen einsammeln.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777240"/>
            <a:ext cx="2651760" cy="2651760"/>
          </a:xfrm>
          <a:prstGeom prst="ellipse">
            <a:avLst/>
          </a:prstGeom>
          <a:solidFill>
            <a:srgbClr val="16344A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1097280"/>
            <a:ext cx="2011680" cy="2011680"/>
          </a:xfrm>
          <a:prstGeom prst="ellipse">
            <a:avLst/>
          </a:prstGeom>
          <a:solidFill>
            <a:srgbClr val="1C23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630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2344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MESSE GUIDE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App für deine AI-Messen, Konferenzen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Events in Deutschland – 2026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1C234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154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581912" y="3154680"/>
            <a:ext cx="1732788" cy="384048"/>
          </a:xfrm>
          <a:prstGeom prst="roundRect">
            <a:avLst>
              <a:gd name="adj" fmla="val 47619"/>
            </a:avLst>
          </a:prstGeom>
          <a:solidFill>
            <a:srgbClr val="1C23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81912" y="3154680"/>
            <a:ext cx="17327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Reisen &amp; Kosten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9292" y="3154680"/>
            <a:ext cx="1156716" cy="384048"/>
          </a:xfrm>
          <a:prstGeom prst="roundRect">
            <a:avLst>
              <a:gd name="adj" fmla="val 47619"/>
            </a:avLst>
          </a:prstGeom>
          <a:solidFill>
            <a:srgbClr val="1C234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9292" y="3154680"/>
            <a:ext cx="1156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(MIT) · Local-first · optional mit Supabase-Cloud &amp; MFA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Messe Guide · Version 1.0 · Juli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138160" y="4809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diese App?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74920" cy="1024128"/>
          </a:xfrm>
          <a:prstGeom prst="roundRect">
            <a:avLst>
              <a:gd name="adj" fmla="val 8036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371600"/>
            <a:ext cx="566928" cy="566928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431" y="150766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2893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Veranstaltungen pro Jahr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161848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Termine, Fristen und Tickets verteilt über Mails, Kalender und Zettel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350008"/>
            <a:ext cx="5074920" cy="1024128"/>
          </a:xfrm>
          <a:prstGeom prst="roundRect">
            <a:avLst>
              <a:gd name="adj" fmla="val 8036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2578608"/>
            <a:ext cx="566928" cy="566928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31" y="2714671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4963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ohne Überblick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28254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Eintritt, Bahn, Hotel, Verpflegung – am Jahresende fehlt die Summe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3557016"/>
            <a:ext cx="5074920" cy="1024128"/>
          </a:xfrm>
          <a:prstGeom prst="roundRect">
            <a:avLst>
              <a:gd name="adj" fmla="val 8036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3785616"/>
            <a:ext cx="566928" cy="566928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1" y="3921679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7033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Koordination im Team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17320" y="403250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fährt mit? Wo treffen wir uns? Wer hat die Folien vom Vortrag?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897880" y="1143000"/>
            <a:ext cx="2788920" cy="3392424"/>
          </a:xfrm>
          <a:prstGeom prst="roundRect">
            <a:avLst>
              <a:gd name="adj" fmla="val 2951"/>
            </a:avLst>
          </a:prstGeom>
          <a:solidFill>
            <a:srgbClr val="1C234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897880" y="15544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20" name="Text 15"/>
          <p:cNvSpPr/>
          <p:nvPr/>
        </p:nvSpPr>
        <p:spPr>
          <a:xfrm>
            <a:off x="5897880" y="2606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für alles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897880" y="30175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 · Anmeldung · Reise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· Community · Material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Messe Guide · Version 1.0 · Juli 2026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138160" y="4809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Funktionen auf einen Blick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371600"/>
            <a:ext cx="512064" cy="512064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263" y="1494495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65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Veranstaltungskalender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22585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Monatsansicht, Jahresliste, eigene Events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93008" y="1371600"/>
            <a:ext cx="512064" cy="512064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903" y="1494495"/>
            <a:ext cx="266273" cy="266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1965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Auswahlliste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74720" y="22585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kuratierte AI-Events 2025/26 mit Ja/Nein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27648" y="1371600"/>
            <a:ext cx="512064" cy="512064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543" y="1494495"/>
            <a:ext cx="266273" cy="2662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1965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 &amp; Bezahlung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09360" y="22585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Status-Workflow bis „Besucht“, Zahlungsdaten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288036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" y="3063240"/>
            <a:ext cx="512064" cy="512064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63" y="3186135"/>
            <a:ext cx="266273" cy="26627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" y="36576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Reiseplanung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0080" y="39502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Pkw, Bahn, Flug, Hotel – mit Zeiten &amp; Kosten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91840" y="288036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93008" y="3063240"/>
            <a:ext cx="512064" cy="512064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903" y="3186135"/>
            <a:ext cx="266273" cy="26627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474720" y="36576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3474720" y="39502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Treffen, Mitfahrten, Nachrichten, Sharing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126480" y="288036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327648" y="3063240"/>
            <a:ext cx="512064" cy="512064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0543" y="3186135"/>
            <a:ext cx="266273" cy="26627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09360" y="36576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Materialien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309360" y="39502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Notizen, Präsentationen, Bildergalerie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Messe Guide · Version 1.0 · Juli 2026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8138160" y="4809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Entdecken &amp; Entscheiden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60520" cy="3383280"/>
          </a:xfrm>
          <a:prstGeom prst="roundRect">
            <a:avLst>
              <a:gd name="adj" fmla="val 2432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344168"/>
            <a:ext cx="512064" cy="512064"/>
          </a:xfrm>
          <a:prstGeom prst="ellipse">
            <a:avLst/>
          </a:prstGeom>
          <a:solidFill>
            <a:srgbClr val="1634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263" y="1467063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399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Auswahlliste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196596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kuratierte AI-Events 2025/2026 – aus Web-Recherche und Google-Kalender-Import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Teilnahme Ja / Nein pro Zeile – „Ja“ übernimmt das Event automatisch in die App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direkt editierbar, Filter nach Jahr und Status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am 06.07.2026 gegen Veranstalter-Websites verifiziert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92040" y="1143000"/>
            <a:ext cx="3794760" cy="3383280"/>
          </a:xfrm>
          <a:prstGeom prst="roundRect">
            <a:avLst>
              <a:gd name="adj" fmla="val 2432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93208" y="1344168"/>
            <a:ext cx="512064" cy="512064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103" y="1467063"/>
            <a:ext cx="266273" cy="266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33288" y="1399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Kalender-Integration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120640" y="19659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Monatsansicht mit farbigen Chips, mehrtägige Events durchgängig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„In Google Kalender eintragen“ – vorbefüllter Termin per Klick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.ics-Export einzeln oder alle Zusagen gesammelt (Google, Outlook, Apple)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Live-Suche über Name, Ort und Thema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Messe Guide · Version 1.0 · Juli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138160" y="4809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„Interessiert“ bis „Besucht“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566928"/>
          </a:xfrm>
          <a:prstGeom prst="roundRect">
            <a:avLst>
              <a:gd name="adj" fmla="val 48387"/>
            </a:avLst>
          </a:prstGeom>
          <a:solidFill>
            <a:srgbClr val="1C2340"/>
          </a:solidFill>
          <a:ln w="19050">
            <a:solidFill>
              <a:srgbClr val="9AA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Interessiert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59152" y="11887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3C7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670048" y="1188720"/>
            <a:ext cx="1920240" cy="566928"/>
          </a:xfrm>
          <a:prstGeom prst="roundRect">
            <a:avLst>
              <a:gd name="adj" fmla="val 48387"/>
            </a:avLst>
          </a:prstGeom>
          <a:solidFill>
            <a:srgbClr val="1C234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0048" y="1188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Angemeldet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3C7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82896" y="1188720"/>
            <a:ext cx="1920240" cy="566928"/>
          </a:xfrm>
          <a:prstGeom prst="roundRect">
            <a:avLst>
              <a:gd name="adj" fmla="val 48387"/>
            </a:avLst>
          </a:prstGeom>
          <a:solidFill>
            <a:srgbClr val="1C234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2896" y="1188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Bezahlt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84848" y="11887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3C7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095744" y="1188720"/>
            <a:ext cx="1920240" cy="566928"/>
          </a:xfrm>
          <a:prstGeom prst="roundRect">
            <a:avLst>
              <a:gd name="adj" fmla="val 48387"/>
            </a:avLst>
          </a:prstGeom>
          <a:solidFill>
            <a:srgbClr val="1C234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95744" y="1188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Besucht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512064" cy="512064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2271735"/>
            <a:ext cx="266273" cy="26627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98448" y="213055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 &amp; Bezahlung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298448" y="241401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Tickettyp, Preis, Zahlungsart, Bestellnummer – „Als bezahlt markieren“ mit einem Klick. Gebucht wird beim Veranstalter.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2990088"/>
            <a:ext cx="512064" cy="512064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3112983"/>
            <a:ext cx="266273" cy="26627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98448" y="29718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Reiseabschnitte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1298448" y="325526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Pkw, Bahn, Flug, ÖPNV, Fernbus – Hin- und Rückreise mit Abfahrt, Ankunft und Kosten je Abschnitt.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3831336"/>
            <a:ext cx="512064" cy="512064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3954231"/>
            <a:ext cx="266273" cy="26627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98448" y="381304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Übernachtung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1298448" y="40965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Unterkünfte mit Check-in/Check-out und Gesamtkosten – fließen automatisch in die Kostenrechnung ein.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Messe Guide · Version 1.0 · Juli 2026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138160" y="4809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im Griff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846320" cy="3383280"/>
          </a:xfrm>
          <a:prstGeom prst="roundRect">
            <a:avLst>
              <a:gd name="adj" fmla="val 2432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98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Beispiel: WeAreDevelopers Berlin (3 Tage)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45920"/>
          <a:ext cx="44805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143000"/>
            <a:ext cx="3108960" cy="1005840"/>
          </a:xfrm>
          <a:prstGeom prst="roundRect">
            <a:avLst>
              <a:gd name="adj" fmla="val 8182"/>
            </a:avLst>
          </a:prstGeom>
          <a:solidFill>
            <a:srgbClr val="1C234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261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1.045,40 €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577840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summiert je Messe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23560" y="23774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Eintritt, Fahrt und Hotel entstehen automatisch aus Anmeldung und Reiseplanung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Aufteilung je Kategorie und je Veranstaltung mit Summenzeile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CSV-Export für Excel und Reisekostenabrechnung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Messe Guide · Version 1.0 · Juli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138160" y="4809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 zur Messe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69080" cy="1188720"/>
          </a:xfrm>
          <a:prstGeom prst="roundRect">
            <a:avLst>
              <a:gd name="adj" fmla="val 6923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499616"/>
            <a:ext cx="548640" cy="548640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1631290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3898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Treffen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1737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Mittagessen, Warm-up, Nachbetrachtung – Teilnahme per Klick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4069080" cy="1188720"/>
          </a:xfrm>
          <a:prstGeom prst="roundRect">
            <a:avLst>
              <a:gd name="adj" fmla="val 6923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10328" y="1499616"/>
            <a:ext cx="548640" cy="548640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002" y="1631290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3898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Mitfahrgelegenheiten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0" y="1737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Anbieten, mitfahren, aussteigen – mit Platzverwaltung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4069080" cy="1188720"/>
          </a:xfrm>
          <a:prstGeom prst="roundRect">
            <a:avLst>
              <a:gd name="adj" fmla="val 6923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2871216"/>
            <a:ext cx="548640" cy="548640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3002890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27614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Direktnachrichten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1732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1:1-Chats mit Ungelesen-Zähler und ✓✓-Lesestatus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709160" y="2560320"/>
            <a:ext cx="4069080" cy="1188720"/>
          </a:xfrm>
          <a:prstGeom prst="roundRect">
            <a:avLst>
              <a:gd name="adj" fmla="val 6923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10328" y="2871216"/>
            <a:ext cx="548640" cy="548640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002" y="3002890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7614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Sharing-Runden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66928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Geteilte Präsentationen nur für angemeldete Mitglieder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252B5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731520" y="402336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 per E-Mail:  </a:t>
            </a:r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Community-Aktionen erfordern ein verifiziertes Konto – lokal per Demo-Code, in der Cloud per Passwort + MFA.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Messe Guide · Version 1.0 · Juli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138160" y="4809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Designs · moderne Architektur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1732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0B0E17"/>
          </a:solidFill>
          <a:ln w="12700">
            <a:solidFill>
              <a:srgbClr val="2A31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274320" cy="2743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609344"/>
            <a:ext cx="1463040" cy="164592"/>
          </a:xfrm>
          <a:prstGeom prst="roundRect">
            <a:avLst>
              <a:gd name="adj" fmla="val 27778"/>
            </a:avLst>
          </a:prstGeom>
          <a:solidFill>
            <a:srgbClr val="818CF8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Deep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359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dunkel · Standard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41732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AF7F2"/>
          </a:solidFill>
          <a:ln w="12700">
            <a:solidFill>
              <a:srgbClr val="2A31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554480"/>
            <a:ext cx="274320" cy="274320"/>
          </a:xfrm>
          <a:prstGeom prst="ellipse">
            <a:avLst/>
          </a:prstGeom>
          <a:solidFill>
            <a:srgbClr val="9A3412"/>
          </a:solidFill>
          <a:ln/>
        </p:spPr>
      </p:sp>
      <p:sp>
        <p:nvSpPr>
          <p:cNvPr id="12" name="Shape 10"/>
          <p:cNvSpPr/>
          <p:nvPr/>
        </p:nvSpPr>
        <p:spPr>
          <a:xfrm>
            <a:off x="4069080" y="1609344"/>
            <a:ext cx="1463040" cy="164592"/>
          </a:xfrm>
          <a:prstGeom prst="roundRect">
            <a:avLst>
              <a:gd name="adj" fmla="val 27778"/>
            </a:avLst>
          </a:prstGeom>
          <a:solidFill>
            <a:srgbClr val="9A3412">
              <a:alpha val="4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Light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20440" y="2359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helles Serif-Magazin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41732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2A31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55448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6903720" y="1609344"/>
            <a:ext cx="1463040" cy="164592"/>
          </a:xfrm>
          <a:prstGeom prst="roundRect">
            <a:avLst>
              <a:gd name="adj" fmla="val 27778"/>
            </a:avLst>
          </a:prstGeom>
          <a:solidFill>
            <a:srgbClr val="2563EB">
              <a:alpha val="4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Clean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55080" y="2359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helles Dashboard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438912" cy="438912"/>
          </a:xfrm>
          <a:prstGeom prst="ellipse">
            <a:avLst/>
          </a:prstGeom>
          <a:solidFill>
            <a:srgbClr val="16344A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979" y="3077139"/>
            <a:ext cx="228234" cy="22823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88720" y="2944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 —  </a:t>
            </a:r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Statische Web-App – läuft ohne Server komplett im Browser (LocalStorage + IndexedDB)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3538728"/>
            <a:ext cx="438912" cy="438912"/>
          </a:xfrm>
          <a:prstGeom prst="ellipse">
            <a:avLst/>
          </a:prstGeom>
          <a:solidFill>
            <a:srgbClr val="16344A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79" y="3644067"/>
            <a:ext cx="228234" cy="22823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88720" y="35112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optional  —  </a:t>
            </a:r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E-Mail-Auth, Cloud-Sync pro Nutzer mit Row-Level-Security, delete_user()-RPC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48640" y="4105656"/>
            <a:ext cx="438912" cy="438912"/>
          </a:xfrm>
          <a:prstGeom prst="ellipse">
            <a:avLst/>
          </a:prstGeom>
          <a:solidFill>
            <a:srgbClr val="16344A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9" y="4210995"/>
            <a:ext cx="228234" cy="22823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88720" y="407822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/ 2FA  —  </a:t>
            </a:r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mit Authenticator-App: QR-Einrichtung, Code-Abfrage bei jedem Login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5720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Messe Guide · Version 1.0 · Juli 2026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138160" y="4809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Datenschutz &amp; Rechtssicherheit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69080" cy="1298448"/>
          </a:xfrm>
          <a:prstGeom prst="roundRect">
            <a:avLst>
              <a:gd name="adj" fmla="val 6338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554480"/>
            <a:ext cx="548640" cy="548640"/>
          </a:xfrm>
          <a:prstGeom prst="ellipse">
            <a:avLst/>
          </a:prstGeom>
          <a:solidFill>
            <a:srgbClr val="1634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16861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081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DSGVO Art. 20 – Datenexport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417320" y="18653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Daten jederzeit als JSON-Datei exportierbar („Konto &amp; Daten“)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4069080" cy="1298448"/>
          </a:xfrm>
          <a:prstGeom prst="roundRect">
            <a:avLst>
              <a:gd name="adj" fmla="val 6338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10328" y="1554480"/>
            <a:ext cx="548640" cy="548640"/>
          </a:xfrm>
          <a:prstGeom prst="ellipse">
            <a:avLst/>
          </a:prstGeom>
          <a:solidFill>
            <a:srgbClr val="16344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002" y="16861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4081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DSGVO Art. 17 – Löschung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0" y="18653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Konto-Selbstlöschung entfernt Profil, Inhalte und das Cloud-Konto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670048"/>
            <a:ext cx="4069080" cy="1298448"/>
          </a:xfrm>
          <a:prstGeom prst="roundRect">
            <a:avLst>
              <a:gd name="adj" fmla="val 6338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3035808"/>
            <a:ext cx="548640" cy="548640"/>
          </a:xfrm>
          <a:prstGeom prst="ellipse">
            <a:avLst/>
          </a:prstGeom>
          <a:solidFill>
            <a:srgbClr val="16344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3167482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28895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– Transparenz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417320" y="33467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KI-System in der App; KI-recherchierte Startdaten sind gekennzeichnet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09160" y="2670048"/>
            <a:ext cx="4069080" cy="1298448"/>
          </a:xfrm>
          <a:prstGeom prst="roundRect">
            <a:avLst>
              <a:gd name="adj" fmla="val 6338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10328" y="3035808"/>
            <a:ext cx="548640" cy="548640"/>
          </a:xfrm>
          <a:prstGeom prst="ellipse">
            <a:avLst/>
          </a:prstGeom>
          <a:solidFill>
            <a:srgbClr val="16344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002" y="3167482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8895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669280" y="33467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Cookies, kein Tracking, keine Analytics – Security-Header im Deployment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Datenschutzerklärung und EU-AI-Act-Hinweise sind Teil der App · Impressum vor Livegang ergänzen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Messe Guide · Version 1.0 · Juli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138160" y="4809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4 Schritten live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56816" cy="1737360"/>
          </a:xfrm>
          <a:prstGeom prst="roundRect">
            <a:avLst>
              <a:gd name="adj" fmla="val 4737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85216" y="13167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700784" y="1353312"/>
            <a:ext cx="512064" cy="512064"/>
          </a:xfrm>
          <a:prstGeom prst="ellipse">
            <a:avLst/>
          </a:prstGeom>
          <a:solidFill>
            <a:srgbClr val="1634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3679" y="147620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97510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Impressum füllen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1792" y="243230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Platzhalter in den Rechtsseiten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04872" y="17830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C7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615184" y="1188720"/>
            <a:ext cx="1956816" cy="1737360"/>
          </a:xfrm>
          <a:prstGeom prst="roundRect">
            <a:avLst>
              <a:gd name="adj" fmla="val 4737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43200" y="13167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858768" y="1353312"/>
            <a:ext cx="512064" cy="512064"/>
          </a:xfrm>
          <a:prstGeom prst="ellipse">
            <a:avLst/>
          </a:prstGeom>
          <a:solidFill>
            <a:srgbClr val="1634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663" y="1476207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79776" y="197510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GitHub-Push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779776" y="243230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 add … &amp;&amp; git push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62856" y="17830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C7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73168" y="1188720"/>
            <a:ext cx="1956816" cy="1737360"/>
          </a:xfrm>
          <a:prstGeom prst="roundRect">
            <a:avLst>
              <a:gd name="adj" fmla="val 4737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901184" y="13167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6016752" y="1353312"/>
            <a:ext cx="512064" cy="512064"/>
          </a:xfrm>
          <a:prstGeom prst="ellipse">
            <a:avLst/>
          </a:prstGeom>
          <a:solidFill>
            <a:srgbClr val="16344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647" y="1476207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37760" y="197510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einrichten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937760" y="243230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 ausführen, Keys in config.js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720840" y="17830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C7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931152" y="1188720"/>
            <a:ext cx="1956816" cy="1737360"/>
          </a:xfrm>
          <a:prstGeom prst="roundRect">
            <a:avLst>
              <a:gd name="adj" fmla="val 4737"/>
            </a:avLst>
          </a:prstGeom>
          <a:solidFill>
            <a:srgbClr val="161B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059168" y="13167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Shape 21"/>
          <p:cNvSpPr/>
          <p:nvPr/>
        </p:nvSpPr>
        <p:spPr>
          <a:xfrm>
            <a:off x="8174736" y="1353312"/>
            <a:ext cx="512064" cy="512064"/>
          </a:xfrm>
          <a:prstGeom prst="ellipse">
            <a:avLst/>
          </a:prstGeom>
          <a:solidFill>
            <a:srgbClr val="16344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631" y="1476207"/>
            <a:ext cx="266273" cy="26627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95744" y="197510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Vercel-Deploy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095744" y="243230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importieren – fertig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57200" y="3246120"/>
            <a:ext cx="8229600" cy="1188720"/>
          </a:xfrm>
          <a:prstGeom prst="roundRect">
            <a:avLst>
              <a:gd name="adj" fmla="val 6923"/>
            </a:avLst>
          </a:prstGeom>
          <a:solidFill>
            <a:srgbClr val="1C234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731520" y="34015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731520" y="37124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Geteilte Community-Tabellen über Konten hinweg (Schema vorbereitet) · echter E-Mail-Versand · Jahres-Portal über alle Messe-Apps · automatischer Kalender-Abgleich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5720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Messe Guide · Version 1.0 · Juli 2026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8138160" y="4809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Messe Guide – Produktpräsentation</dc:title>
  <dc:subject>PptxGenJS Presentation</dc:subject>
  <dc:creator>AI Messe Guide</dc:creator>
  <cp:lastModifiedBy>AI Messe Guide</cp:lastModifiedBy>
  <cp:revision>1</cp:revision>
  <dcterms:created xsi:type="dcterms:W3CDTF">2026-07-06T14:26:18Z</dcterms:created>
  <dcterms:modified xsi:type="dcterms:W3CDTF">2026-07-06T14:26:18Z</dcterms:modified>
</cp:coreProperties>
</file>